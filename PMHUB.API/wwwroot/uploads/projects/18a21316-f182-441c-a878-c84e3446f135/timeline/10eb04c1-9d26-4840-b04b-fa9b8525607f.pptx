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elegraf Bold" charset="1" panose="00000800000000000000"/>
      <p:regular r:id="rId12"/>
    </p:embeddedFont>
    <p:embeddedFont>
      <p:font typeface="Telegraf Medium" charset="1" panose="00000600000000000000"/>
      <p:regular r:id="rId13"/>
    </p:embeddedFont>
    <p:embeddedFont>
      <p:font typeface="Telegraf Ultra-Bold" charset="1" panose="000009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B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42156" y="-1858344"/>
            <a:ext cx="14003688" cy="14003688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597869" y="5862880"/>
            <a:ext cx="9020325" cy="1146699"/>
            <a:chOff x="0" y="0"/>
            <a:chExt cx="2375723" cy="3020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75723" cy="302011"/>
            </a:xfrm>
            <a:custGeom>
              <a:avLst/>
              <a:gdLst/>
              <a:ahLst/>
              <a:cxnLst/>
              <a:rect r="r" b="b" t="t" l="l"/>
              <a:pathLst>
                <a:path h="302011" w="2375723">
                  <a:moveTo>
                    <a:pt x="85828" y="0"/>
                  </a:moveTo>
                  <a:lnTo>
                    <a:pt x="2289896" y="0"/>
                  </a:lnTo>
                  <a:cubicBezTo>
                    <a:pt x="2337297" y="0"/>
                    <a:pt x="2375723" y="38426"/>
                    <a:pt x="2375723" y="85828"/>
                  </a:cubicBezTo>
                  <a:lnTo>
                    <a:pt x="2375723" y="216184"/>
                  </a:lnTo>
                  <a:cubicBezTo>
                    <a:pt x="2375723" y="263585"/>
                    <a:pt x="2337297" y="302011"/>
                    <a:pt x="2289896" y="302011"/>
                  </a:cubicBezTo>
                  <a:lnTo>
                    <a:pt x="85828" y="302011"/>
                  </a:lnTo>
                  <a:cubicBezTo>
                    <a:pt x="38426" y="302011"/>
                    <a:pt x="0" y="263585"/>
                    <a:pt x="0" y="216184"/>
                  </a:cubicBezTo>
                  <a:lnTo>
                    <a:pt x="0" y="85828"/>
                  </a:lnTo>
                  <a:cubicBezTo>
                    <a:pt x="0" y="38426"/>
                    <a:pt x="38426" y="0"/>
                    <a:pt x="85828" y="0"/>
                  </a:cubicBezTo>
                  <a:close/>
                </a:path>
              </a:pathLst>
            </a:custGeom>
            <a:solidFill>
              <a:srgbClr val="DD343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375723" cy="3591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7547575" y="0"/>
            <a:ext cx="2502321" cy="2502321"/>
          </a:xfrm>
          <a:custGeom>
            <a:avLst/>
            <a:gdLst/>
            <a:ahLst/>
            <a:cxnLst/>
            <a:rect r="r" b="b" t="t" l="l"/>
            <a:pathLst>
              <a:path h="2502321" w="2502321">
                <a:moveTo>
                  <a:pt x="0" y="0"/>
                </a:moveTo>
                <a:lnTo>
                  <a:pt x="2502321" y="0"/>
                </a:lnTo>
                <a:lnTo>
                  <a:pt x="2502321" y="2502321"/>
                </a:lnTo>
                <a:lnTo>
                  <a:pt x="0" y="25023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35147" y="3312852"/>
            <a:ext cx="12417706" cy="2242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415"/>
              </a:lnSpc>
              <a:spcBef>
                <a:spcPct val="0"/>
              </a:spcBef>
            </a:pPr>
            <a:r>
              <a:rPr lang="en-US" b="true" sz="143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PMHUB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15449" y="6174420"/>
            <a:ext cx="8057102" cy="962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5"/>
              </a:lnSpc>
              <a:spcBef>
                <a:spcPct val="0"/>
              </a:spcBef>
            </a:pPr>
            <a:r>
              <a:rPr lang="en-US" b="true" sz="3259" spc="97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Project Management Platform</a:t>
            </a:r>
          </a:p>
          <a:p>
            <a:pPr algn="ctr">
              <a:lnSpc>
                <a:spcPts val="371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B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549" cy="26924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 marL="0" indent="0" lvl="1">
              <a:lnSpc>
                <a:spcPts val="1960"/>
              </a:lnSpc>
              <a:spcBef>
                <a:spcPct val="0"/>
              </a:spcBef>
            </a:pPr>
            <a:r>
              <a:rPr lang="en-US" b="true" sz="1400" spc="210" strike="noStrike" u="none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87186" y="9275586"/>
            <a:ext cx="14913628" cy="177502"/>
            <a:chOff x="0" y="0"/>
            <a:chExt cx="48017069" cy="571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255270"/>
              <a:ext cx="48017069" cy="69850"/>
            </a:xfrm>
            <a:custGeom>
              <a:avLst/>
              <a:gdLst/>
              <a:ahLst/>
              <a:cxnLst/>
              <a:rect r="r" b="b" t="t" l="l"/>
              <a:pathLst>
                <a:path h="69850" w="48017069">
                  <a:moveTo>
                    <a:pt x="47726240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48017069" y="69850"/>
                  </a:lnTo>
                  <a:lnTo>
                    <a:pt x="48017069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9131708"/>
            <a:ext cx="465258" cy="465258"/>
          </a:xfrm>
          <a:custGeom>
            <a:avLst/>
            <a:gdLst/>
            <a:ahLst/>
            <a:cxnLst/>
            <a:rect r="r" b="b" t="t" l="l"/>
            <a:pathLst>
              <a:path h="465258" w="465258">
                <a:moveTo>
                  <a:pt x="0" y="0"/>
                </a:moveTo>
                <a:lnTo>
                  <a:pt x="465258" y="0"/>
                </a:lnTo>
                <a:lnTo>
                  <a:pt x="465258" y="465258"/>
                </a:lnTo>
                <a:lnTo>
                  <a:pt x="0" y="465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547575" y="0"/>
            <a:ext cx="2502321" cy="2502321"/>
          </a:xfrm>
          <a:custGeom>
            <a:avLst/>
            <a:gdLst/>
            <a:ahLst/>
            <a:cxnLst/>
            <a:rect r="r" b="b" t="t" l="l"/>
            <a:pathLst>
              <a:path h="2502321" w="2502321">
                <a:moveTo>
                  <a:pt x="0" y="0"/>
                </a:moveTo>
                <a:lnTo>
                  <a:pt x="2502321" y="0"/>
                </a:lnTo>
                <a:lnTo>
                  <a:pt x="2502321" y="2502321"/>
                </a:lnTo>
                <a:lnTo>
                  <a:pt x="0" y="25023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9721" y="3482067"/>
            <a:ext cx="4729460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 spc="314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SUIVI MANUEL DES HEURES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396221" y="2971166"/>
            <a:ext cx="203955" cy="203955"/>
            <a:chOff x="0" y="0"/>
            <a:chExt cx="1913890" cy="19138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0086D4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76102" y="4173824"/>
            <a:ext cx="4303080" cy="681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642" indent="-203821" lvl="1">
              <a:lnSpc>
                <a:spcPts val="264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88" spc="283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SAISIES MANUELLES </a:t>
            </a:r>
          </a:p>
          <a:p>
            <a:pPr algn="l" marL="407642" indent="-203821" lvl="1">
              <a:lnSpc>
                <a:spcPts val="264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88" spc="283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ERREURS FRÉQUENTES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34249" y="3482067"/>
            <a:ext cx="4632871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VISIBILITÉ INSUFFISANTE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348707" y="2971166"/>
            <a:ext cx="203955" cy="203955"/>
            <a:chOff x="0" y="0"/>
            <a:chExt cx="1913890" cy="19138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0086D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397208" y="4183349"/>
            <a:ext cx="6422055" cy="1536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7557" indent="-188779" lvl="1">
              <a:lnSpc>
                <a:spcPts val="244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748" spc="262" strike="noStrike" u="none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ABSENCE DE VISIBILITÉ EN TEMPS RÉEL SUR L’ACTIVITÉ DES INTERNES PAR LES SUPERVISEURS.</a:t>
            </a:r>
          </a:p>
          <a:p>
            <a:pPr algn="l" marL="377557" indent="-188779" lvl="1">
              <a:lnSpc>
                <a:spcPts val="244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748" spc="262" strike="noStrike" u="none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STATISTIQUES LIMITÉES POUR ANTICIPER LES RISQUES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59508" y="3296330"/>
            <a:ext cx="5736107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 spc="314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OUTIL</a:t>
            </a: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S DE </a:t>
            </a: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GE</a:t>
            </a: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S</a:t>
            </a: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TI</a:t>
            </a: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O</a:t>
            </a: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N DE P</a:t>
            </a: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R</a:t>
            </a: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OJE</a:t>
            </a: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T </a:t>
            </a: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FRA</a:t>
            </a: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G</a:t>
            </a: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M</a:t>
            </a: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E</a:t>
            </a: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NTÉS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4509641" y="2971166"/>
            <a:ext cx="203955" cy="203955"/>
            <a:chOff x="0" y="0"/>
            <a:chExt cx="1913890" cy="19138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0086D4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1959508" y="4183349"/>
            <a:ext cx="6122907" cy="184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7557" indent="-188779" lvl="1">
              <a:lnSpc>
                <a:spcPts val="244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748" spc="262" strike="noStrike" u="none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COMPLEXITÉ DANS LA COORDINATION DES ÉQUIPES ET LE PILOTAGE EFFICACE DES PROJETS.</a:t>
            </a:r>
          </a:p>
          <a:p>
            <a:pPr algn="l" marL="377557" indent="-188779" lvl="1">
              <a:lnSpc>
                <a:spcPts val="244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748" spc="262" strike="noStrike" u="none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DIFFICULTÉ À CENTRALISER LES INFORMATIONS ET À SUIVRE L’AVANCEMENT GLOBAL DES PROJETS.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706696" y="6388796"/>
            <a:ext cx="5615732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ABSENCE D'AIDE À LA DÉCISION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348707" y="6024881"/>
            <a:ext cx="203955" cy="203955"/>
            <a:chOff x="0" y="0"/>
            <a:chExt cx="1913890" cy="191389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0086D4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4491365" y="6992681"/>
            <a:ext cx="7918638" cy="685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643" indent="-203821" lvl="1">
              <a:lnSpc>
                <a:spcPts val="264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88" spc="283" strike="noStrike" u="none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PAS DE MOTEUR ANALYTIQUE POUR PRIORISER ET REDISTRIBUER LES RESSOURCES.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963740" y="1758381"/>
            <a:ext cx="6360521" cy="1012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4"/>
              </a:lnSpc>
              <a:spcBef>
                <a:spcPct val="0"/>
              </a:spcBef>
            </a:pPr>
            <a:r>
              <a:rPr lang="en-US" b="true" sz="66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Probléma</a:t>
            </a:r>
            <a:r>
              <a:rPr lang="en-US" b="true" sz="66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tiqu</a:t>
            </a:r>
            <a:r>
              <a:rPr lang="en-US" b="true" sz="66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00075" y="3530151"/>
            <a:ext cx="569544" cy="492656"/>
          </a:xfrm>
          <a:custGeom>
            <a:avLst/>
            <a:gdLst/>
            <a:ahLst/>
            <a:cxnLst/>
            <a:rect r="r" b="b" t="t" l="l"/>
            <a:pathLst>
              <a:path h="492656" w="569544">
                <a:moveTo>
                  <a:pt x="0" y="0"/>
                </a:moveTo>
                <a:lnTo>
                  <a:pt x="569544" y="0"/>
                </a:lnTo>
                <a:lnTo>
                  <a:pt x="569544" y="492656"/>
                </a:lnTo>
                <a:lnTo>
                  <a:pt x="0" y="492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38294" y="1934028"/>
            <a:ext cx="10811413" cy="1012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4"/>
              </a:lnSpc>
              <a:spcBef>
                <a:spcPct val="0"/>
              </a:spcBef>
            </a:pPr>
            <a:r>
              <a:rPr lang="en-US" b="true" sz="66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Sol</a:t>
            </a:r>
            <a:r>
              <a:rPr lang="en-US" b="true" sz="66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ution prop</a:t>
            </a:r>
            <a:r>
              <a:rPr lang="en-US" b="true" sz="66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osée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 marL="0" indent="0" lvl="1">
              <a:lnSpc>
                <a:spcPts val="1960"/>
              </a:lnSpc>
              <a:spcBef>
                <a:spcPct val="0"/>
              </a:spcBef>
            </a:pPr>
            <a:r>
              <a:rPr lang="en-US" b="true" sz="1400" spc="210" strike="noStrike" u="none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3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547575" y="0"/>
            <a:ext cx="2502321" cy="2502321"/>
          </a:xfrm>
          <a:custGeom>
            <a:avLst/>
            <a:gdLst/>
            <a:ahLst/>
            <a:cxnLst/>
            <a:rect r="r" b="b" t="t" l="l"/>
            <a:pathLst>
              <a:path h="2502321" w="2502321">
                <a:moveTo>
                  <a:pt x="0" y="0"/>
                </a:moveTo>
                <a:lnTo>
                  <a:pt x="2502321" y="0"/>
                </a:lnTo>
                <a:lnTo>
                  <a:pt x="2502321" y="2502321"/>
                </a:lnTo>
                <a:lnTo>
                  <a:pt x="0" y="25023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0323" y="4205738"/>
            <a:ext cx="4358284" cy="1137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 spc="314" strike="noStrike" u="none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INTÉGRATION DE GANT POUR UN SUIVI EN TEMPS RÉEL.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466338" y="3530151"/>
            <a:ext cx="569544" cy="492656"/>
          </a:xfrm>
          <a:custGeom>
            <a:avLst/>
            <a:gdLst/>
            <a:ahLst/>
            <a:cxnLst/>
            <a:rect r="r" b="b" t="t" l="l"/>
            <a:pathLst>
              <a:path h="492656" w="569544">
                <a:moveTo>
                  <a:pt x="0" y="0"/>
                </a:moveTo>
                <a:lnTo>
                  <a:pt x="569544" y="0"/>
                </a:lnTo>
                <a:lnTo>
                  <a:pt x="569544" y="492656"/>
                </a:lnTo>
                <a:lnTo>
                  <a:pt x="0" y="492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516587" y="4205738"/>
            <a:ext cx="4469047" cy="1137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 spc="314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TABLEAU DE BORD PLUS COMPLET AVEC DES FILTRES AVANCÉE &amp; KPI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97715" y="4205738"/>
            <a:ext cx="6309285" cy="1508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 spc="314" strike="noStrike" u="none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VALIDATION OBLIGATOIRE PAR L’</a:t>
            </a:r>
            <a:r>
              <a:rPr lang="en-US" b="true" sz="2099" spc="314" strike="noStrike" u="none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ADMINISTRATEUR POUR CHAQUE NOUVEL UTILISATEUR ET HEURES PREMIUM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467585" y="3530151"/>
            <a:ext cx="569544" cy="492656"/>
          </a:xfrm>
          <a:custGeom>
            <a:avLst/>
            <a:gdLst/>
            <a:ahLst/>
            <a:cxnLst/>
            <a:rect r="r" b="b" t="t" l="l"/>
            <a:pathLst>
              <a:path h="492656" w="569544">
                <a:moveTo>
                  <a:pt x="0" y="0"/>
                </a:moveTo>
                <a:lnTo>
                  <a:pt x="569545" y="0"/>
                </a:lnTo>
                <a:lnTo>
                  <a:pt x="569545" y="492656"/>
                </a:lnTo>
                <a:lnTo>
                  <a:pt x="0" y="492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60511" y="7014490"/>
            <a:ext cx="5342016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 spc="314" strike="noStrike" u="none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ACTIVEZ LE MODE AGILE POUR DES PROJETS DIGITAUX.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400075" y="6199658"/>
            <a:ext cx="569544" cy="492656"/>
          </a:xfrm>
          <a:custGeom>
            <a:avLst/>
            <a:gdLst/>
            <a:ahLst/>
            <a:cxnLst/>
            <a:rect r="r" b="b" t="t" l="l"/>
            <a:pathLst>
              <a:path h="492656" w="569544">
                <a:moveTo>
                  <a:pt x="0" y="0"/>
                </a:moveTo>
                <a:lnTo>
                  <a:pt x="569544" y="0"/>
                </a:lnTo>
                <a:lnTo>
                  <a:pt x="569544" y="492656"/>
                </a:lnTo>
                <a:lnTo>
                  <a:pt x="0" y="492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770827" y="7014490"/>
            <a:ext cx="6157752" cy="1508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 spc="314" strike="noStrike" u="none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LIEN SUPERVISEUR–INTERNE POURCENTAGE D'EFFORT ATTRIBUÉ PAR TÂCHE ET PROJET.</a:t>
            </a:r>
          </a:p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574456" y="6371724"/>
            <a:ext cx="569544" cy="492656"/>
          </a:xfrm>
          <a:custGeom>
            <a:avLst/>
            <a:gdLst/>
            <a:ahLst/>
            <a:cxnLst/>
            <a:rect r="r" b="b" t="t" l="l"/>
            <a:pathLst>
              <a:path h="492656" w="569544">
                <a:moveTo>
                  <a:pt x="0" y="0"/>
                </a:moveTo>
                <a:lnTo>
                  <a:pt x="569544" y="0"/>
                </a:lnTo>
                <a:lnTo>
                  <a:pt x="569544" y="492655"/>
                </a:lnTo>
                <a:lnTo>
                  <a:pt x="0" y="492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301091" y="7014490"/>
            <a:ext cx="5986909" cy="1137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 spc="314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AMÉLIO</a:t>
            </a:r>
            <a:r>
              <a:rPr lang="en-US" b="true" sz="2099" spc="314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RATION DE L’INTERFACE ET DE L’EXPÉRIENCE UTILISATEUR POUR UN ACCÈS PLUS FLUIDE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5009773" y="6371724"/>
            <a:ext cx="569544" cy="492656"/>
          </a:xfrm>
          <a:custGeom>
            <a:avLst/>
            <a:gdLst/>
            <a:ahLst/>
            <a:cxnLst/>
            <a:rect r="r" b="b" t="t" l="l"/>
            <a:pathLst>
              <a:path h="492656" w="569544">
                <a:moveTo>
                  <a:pt x="0" y="0"/>
                </a:moveTo>
                <a:lnTo>
                  <a:pt x="569545" y="0"/>
                </a:lnTo>
                <a:lnTo>
                  <a:pt x="569545" y="492655"/>
                </a:lnTo>
                <a:lnTo>
                  <a:pt x="0" y="492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687186" y="9275586"/>
            <a:ext cx="14913628" cy="177502"/>
            <a:chOff x="0" y="0"/>
            <a:chExt cx="48017069" cy="571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255270"/>
              <a:ext cx="48017069" cy="69850"/>
            </a:xfrm>
            <a:custGeom>
              <a:avLst/>
              <a:gdLst/>
              <a:ahLst/>
              <a:cxnLst/>
              <a:rect r="r" b="b" t="t" l="l"/>
              <a:pathLst>
                <a:path h="69850" w="48017069">
                  <a:moveTo>
                    <a:pt x="47726240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48017069" y="69850"/>
                  </a:lnTo>
                  <a:lnTo>
                    <a:pt x="48017069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028700" y="9131708"/>
            <a:ext cx="465258" cy="465258"/>
          </a:xfrm>
          <a:custGeom>
            <a:avLst/>
            <a:gdLst/>
            <a:ahLst/>
            <a:cxnLst/>
            <a:rect r="r" b="b" t="t" l="l"/>
            <a:pathLst>
              <a:path h="465258" w="465258">
                <a:moveTo>
                  <a:pt x="0" y="0"/>
                </a:moveTo>
                <a:lnTo>
                  <a:pt x="465258" y="0"/>
                </a:lnTo>
                <a:lnTo>
                  <a:pt x="465258" y="465258"/>
                </a:lnTo>
                <a:lnTo>
                  <a:pt x="0" y="46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8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87186" y="9275586"/>
            <a:ext cx="14913628" cy="177502"/>
            <a:chOff x="0" y="0"/>
            <a:chExt cx="48017069" cy="571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255270"/>
              <a:ext cx="48017069" cy="69850"/>
            </a:xfrm>
            <a:custGeom>
              <a:avLst/>
              <a:gdLst/>
              <a:ahLst/>
              <a:cxnLst/>
              <a:rect r="r" b="b" t="t" l="l"/>
              <a:pathLst>
                <a:path h="69850" w="48017069">
                  <a:moveTo>
                    <a:pt x="47726240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48017069" y="69850"/>
                  </a:lnTo>
                  <a:lnTo>
                    <a:pt x="4801706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9131708"/>
            <a:ext cx="465258" cy="465258"/>
          </a:xfrm>
          <a:custGeom>
            <a:avLst/>
            <a:gdLst/>
            <a:ahLst/>
            <a:cxnLst/>
            <a:rect r="r" b="b" t="t" l="l"/>
            <a:pathLst>
              <a:path h="465258" w="465258">
                <a:moveTo>
                  <a:pt x="0" y="0"/>
                </a:moveTo>
                <a:lnTo>
                  <a:pt x="465258" y="0"/>
                </a:lnTo>
                <a:lnTo>
                  <a:pt x="465258" y="465258"/>
                </a:lnTo>
                <a:lnTo>
                  <a:pt x="0" y="465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547575" y="0"/>
            <a:ext cx="2502321" cy="2502321"/>
          </a:xfrm>
          <a:custGeom>
            <a:avLst/>
            <a:gdLst/>
            <a:ahLst/>
            <a:cxnLst/>
            <a:rect r="r" b="b" t="t" l="l"/>
            <a:pathLst>
              <a:path h="2502321" w="2502321">
                <a:moveTo>
                  <a:pt x="0" y="0"/>
                </a:moveTo>
                <a:lnTo>
                  <a:pt x="2502321" y="0"/>
                </a:lnTo>
                <a:lnTo>
                  <a:pt x="2502321" y="2502321"/>
                </a:lnTo>
                <a:lnTo>
                  <a:pt x="0" y="25023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044180" y="3282031"/>
            <a:ext cx="561013" cy="561013"/>
          </a:xfrm>
          <a:custGeom>
            <a:avLst/>
            <a:gdLst/>
            <a:ahLst/>
            <a:cxnLst/>
            <a:rect r="r" b="b" t="t" l="l"/>
            <a:pathLst>
              <a:path h="561013" w="561013">
                <a:moveTo>
                  <a:pt x="0" y="0"/>
                </a:moveTo>
                <a:lnTo>
                  <a:pt x="561013" y="0"/>
                </a:lnTo>
                <a:lnTo>
                  <a:pt x="561013" y="561013"/>
                </a:lnTo>
                <a:lnTo>
                  <a:pt x="0" y="5610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79976" y="3282031"/>
            <a:ext cx="664024" cy="664024"/>
          </a:xfrm>
          <a:custGeom>
            <a:avLst/>
            <a:gdLst/>
            <a:ahLst/>
            <a:cxnLst/>
            <a:rect r="r" b="b" t="t" l="l"/>
            <a:pathLst>
              <a:path h="664024" w="664024">
                <a:moveTo>
                  <a:pt x="0" y="0"/>
                </a:moveTo>
                <a:lnTo>
                  <a:pt x="664024" y="0"/>
                </a:lnTo>
                <a:lnTo>
                  <a:pt x="664024" y="664024"/>
                </a:lnTo>
                <a:lnTo>
                  <a:pt x="0" y="6640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190670" y="3197041"/>
            <a:ext cx="730993" cy="730993"/>
          </a:xfrm>
          <a:custGeom>
            <a:avLst/>
            <a:gdLst/>
            <a:ahLst/>
            <a:cxnLst/>
            <a:rect r="r" b="b" t="t" l="l"/>
            <a:pathLst>
              <a:path h="730993" w="730993">
                <a:moveTo>
                  <a:pt x="0" y="0"/>
                </a:moveTo>
                <a:lnTo>
                  <a:pt x="730992" y="0"/>
                </a:lnTo>
                <a:lnTo>
                  <a:pt x="730992" y="730993"/>
                </a:lnTo>
                <a:lnTo>
                  <a:pt x="0" y="7309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973452" y="6280785"/>
            <a:ext cx="646003" cy="646003"/>
          </a:xfrm>
          <a:custGeom>
            <a:avLst/>
            <a:gdLst/>
            <a:ahLst/>
            <a:cxnLst/>
            <a:rect r="r" b="b" t="t" l="l"/>
            <a:pathLst>
              <a:path h="646003" w="646003">
                <a:moveTo>
                  <a:pt x="0" y="0"/>
                </a:moveTo>
                <a:lnTo>
                  <a:pt x="646003" y="0"/>
                </a:lnTo>
                <a:lnTo>
                  <a:pt x="646003" y="646003"/>
                </a:lnTo>
                <a:lnTo>
                  <a:pt x="0" y="6460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452375" y="6280785"/>
            <a:ext cx="730993" cy="730993"/>
          </a:xfrm>
          <a:custGeom>
            <a:avLst/>
            <a:gdLst/>
            <a:ahLst/>
            <a:cxnLst/>
            <a:rect r="r" b="b" t="t" l="l"/>
            <a:pathLst>
              <a:path h="730993" w="730993">
                <a:moveTo>
                  <a:pt x="0" y="0"/>
                </a:moveTo>
                <a:lnTo>
                  <a:pt x="730992" y="0"/>
                </a:lnTo>
                <a:lnTo>
                  <a:pt x="730992" y="730993"/>
                </a:lnTo>
                <a:lnTo>
                  <a:pt x="0" y="73099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 marL="0" indent="0" lvl="1">
              <a:lnSpc>
                <a:spcPts val="1960"/>
              </a:lnSpc>
              <a:spcBef>
                <a:spcPct val="0"/>
              </a:spcBef>
            </a:pPr>
            <a:r>
              <a:rPr lang="en-US" b="true" sz="1400" spc="210" strike="noStrike" u="none">
                <a:solidFill>
                  <a:srgbClr val="FFFFFF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35625" y="1972349"/>
            <a:ext cx="6616750" cy="1031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24"/>
              </a:lnSpc>
              <a:spcBef>
                <a:spcPct val="0"/>
              </a:spcBef>
            </a:pPr>
            <a:r>
              <a:rPr lang="en-US" b="true" sz="6600">
                <a:solidFill>
                  <a:srgbClr val="FDBE14"/>
                </a:solidFill>
                <a:latin typeface="Telegraf Bold"/>
                <a:ea typeface="Telegraf Bold"/>
                <a:cs typeface="Telegraf Bold"/>
                <a:sym typeface="Telegraf Bold"/>
              </a:rPr>
              <a:t>I</a:t>
            </a:r>
            <a:r>
              <a:rPr lang="en-US" b="true" sz="6600" strike="noStrike" u="none">
                <a:solidFill>
                  <a:srgbClr val="FDBE14"/>
                </a:solidFill>
                <a:latin typeface="Telegraf Bold"/>
                <a:ea typeface="Telegraf Bold"/>
                <a:cs typeface="Telegraf Bold"/>
                <a:sym typeface="Telegraf Bold"/>
              </a:rPr>
              <a:t>mpact attendu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4536" y="4176561"/>
            <a:ext cx="5712768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 spc="314">
                <a:solidFill>
                  <a:srgbClr val="FDBE1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OPTIMISATION DES RESSOURCES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536" y="4772025"/>
            <a:ext cx="4961314" cy="1137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 spc="314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MEILLEURE AFFECTATION CROSS-PROJET POUR UNE EFFICACITÉ MAXIMALE.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19404" y="4176561"/>
            <a:ext cx="4249192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 spc="314" strike="noStrike" u="none">
                <a:solidFill>
                  <a:srgbClr val="FDBE1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DÉCISIONS AMÉLIORÉES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97787" y="4772025"/>
            <a:ext cx="4692426" cy="1508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ANALYSES PRÉDICTIVES ET RECOMMANDATIONS BASÉES SUR DES DONNÉES FIABLES.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604638" y="4176561"/>
            <a:ext cx="5463668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 spc="314">
                <a:solidFill>
                  <a:srgbClr val="FDBE1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EXPO</a:t>
            </a:r>
            <a:r>
              <a:rPr lang="en-US" b="true" sz="2099" spc="314" strike="noStrike" u="none">
                <a:solidFill>
                  <a:srgbClr val="FDBE1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R</a:t>
            </a:r>
            <a:r>
              <a:rPr lang="en-US" b="true" sz="2099" spc="314" strike="noStrike" u="none">
                <a:solidFill>
                  <a:srgbClr val="FDBE1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T</a:t>
            </a:r>
            <a:r>
              <a:rPr lang="en-US" b="true" sz="2099" spc="314" strike="noStrike" u="none">
                <a:solidFill>
                  <a:srgbClr val="FDBE1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A</a:t>
            </a:r>
            <a:r>
              <a:rPr lang="en-US" b="true" sz="2099" spc="314" strike="noStrike" u="none">
                <a:solidFill>
                  <a:srgbClr val="FDBE1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T</a:t>
            </a:r>
            <a:r>
              <a:rPr lang="en-US" b="true" sz="2099" spc="314" strike="noStrike" u="none">
                <a:solidFill>
                  <a:srgbClr val="FDBE1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I</a:t>
            </a:r>
            <a:r>
              <a:rPr lang="en-US" b="true" sz="2099" spc="314" strike="noStrike" u="none">
                <a:solidFill>
                  <a:srgbClr val="FDBE1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ON</a:t>
            </a:r>
            <a:r>
              <a:rPr lang="en-US" b="true" sz="2099" spc="314" strike="noStrike" u="none">
                <a:solidFill>
                  <a:srgbClr val="FDBE1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 </a:t>
            </a:r>
            <a:r>
              <a:rPr lang="en-US" b="true" sz="2099" spc="314" strike="noStrike" u="none">
                <a:solidFill>
                  <a:srgbClr val="FDBE1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DES D</a:t>
            </a:r>
            <a:r>
              <a:rPr lang="en-US" b="true" sz="2099" spc="314" strike="noStrike" u="none">
                <a:solidFill>
                  <a:srgbClr val="FDBE1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O</a:t>
            </a:r>
            <a:r>
              <a:rPr lang="en-US" b="true" sz="2099" spc="314" strike="noStrike" u="none">
                <a:solidFill>
                  <a:srgbClr val="FDBE1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NNÉES ET RE</a:t>
            </a:r>
            <a:r>
              <a:rPr lang="en-US" b="true" sz="2099" spc="314" strike="noStrike" u="none">
                <a:solidFill>
                  <a:srgbClr val="FDBE1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P</a:t>
            </a:r>
            <a:r>
              <a:rPr lang="en-US" b="true" sz="2099" spc="314" strike="noStrike" u="none">
                <a:solidFill>
                  <a:srgbClr val="FDBE1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OR</a:t>
            </a:r>
            <a:r>
              <a:rPr lang="en-US" b="true" sz="2099" spc="314" strike="noStrike" u="none">
                <a:solidFill>
                  <a:srgbClr val="FDBE1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T</a:t>
            </a:r>
            <a:r>
              <a:rPr lang="en-US" b="true" sz="2099" spc="314" strike="noStrike" u="none">
                <a:solidFill>
                  <a:srgbClr val="FDBE1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22592" y="4957762"/>
            <a:ext cx="5267148" cy="1137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 spc="314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POSSIBIL</a:t>
            </a: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IT</a:t>
            </a: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É</a:t>
            </a: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 </a:t>
            </a: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D</a:t>
            </a: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E FI</a:t>
            </a: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L</a:t>
            </a: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T</a:t>
            </a: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RER</a:t>
            </a: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 </a:t>
            </a: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LE</a:t>
            </a: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S</a:t>
            </a: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 RAPPORTS PAR </a:t>
            </a: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M</a:t>
            </a: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O</a:t>
            </a: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IS</a:t>
            </a: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,</a:t>
            </a: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 A</a:t>
            </a: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NNÉ</a:t>
            </a: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E </a:t>
            </a: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O</a:t>
            </a: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U</a:t>
            </a: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 PROJET</a:t>
            </a: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 S</a:t>
            </a: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PÉCIF</a:t>
            </a: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IQUE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7028017"/>
            <a:ext cx="7091616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 spc="314" strike="noStrike" u="none">
                <a:solidFill>
                  <a:srgbClr val="FDBE1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APPLICATION ROBUSTE ET MAINTENABLE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93958" y="7650952"/>
            <a:ext cx="5604991" cy="1234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15"/>
              </a:lnSpc>
              <a:spcBef>
                <a:spcPct val="0"/>
              </a:spcBef>
            </a:pPr>
            <a:r>
              <a:rPr lang="en-US" b="true" sz="1725" spc="258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MODULABLE ET SCALABLE, RESPECTANT LES BONNES PRATIQUES DE DÉVELOPPEMENT ET OUVERTE À L’EXTENSION FUTURE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31927" y="7028017"/>
            <a:ext cx="6581329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 spc="314" strike="noStrike" u="none">
                <a:solidFill>
                  <a:srgbClr val="FDBE1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RÉDUCTION DES FUITES FINANCIÈRES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72450" y="7536652"/>
            <a:ext cx="7500284" cy="1137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 spc="314" strike="noStrike" u="none">
                <a:solidFill>
                  <a:srgbClr val="F4F4F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CONTRÔLE PRÉCIS DES HEURES PREMIUM ET ÉLIMINATION DES ERREURS DE FACTURATION.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4652366" y="-3508544"/>
            <a:ext cx="7776675" cy="7395618"/>
            <a:chOff x="0" y="0"/>
            <a:chExt cx="6350000" cy="60388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038850"/>
            </a:xfrm>
            <a:custGeom>
              <a:avLst/>
              <a:gdLst/>
              <a:ahLst/>
              <a:cxnLst/>
              <a:rect r="r" b="b" t="t" l="l"/>
              <a:pathLst>
                <a:path h="6038850" w="6350000">
                  <a:moveTo>
                    <a:pt x="1212850" y="6038850"/>
                  </a:moveTo>
                  <a:lnTo>
                    <a:pt x="0" y="2306320"/>
                  </a:lnTo>
                  <a:lnTo>
                    <a:pt x="3175000" y="0"/>
                  </a:lnTo>
                  <a:lnTo>
                    <a:pt x="6350000" y="2306320"/>
                  </a:lnTo>
                  <a:lnTo>
                    <a:pt x="5137150" y="6038850"/>
                  </a:lnTo>
                  <a:lnTo>
                    <a:pt x="1212850" y="6038850"/>
                  </a:lnTo>
                  <a:close/>
                </a:path>
              </a:pathLst>
            </a:custGeom>
            <a:solidFill>
              <a:srgbClr val="0086D4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5181353" y="-3508544"/>
            <a:ext cx="7399536" cy="7036959"/>
            <a:chOff x="0" y="0"/>
            <a:chExt cx="6350000" cy="60388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038850"/>
            </a:xfrm>
            <a:custGeom>
              <a:avLst/>
              <a:gdLst/>
              <a:ahLst/>
              <a:cxnLst/>
              <a:rect r="r" b="b" t="t" l="l"/>
              <a:pathLst>
                <a:path h="6038850" w="6350000">
                  <a:moveTo>
                    <a:pt x="1212850" y="6038850"/>
                  </a:moveTo>
                  <a:lnTo>
                    <a:pt x="0" y="2306320"/>
                  </a:lnTo>
                  <a:lnTo>
                    <a:pt x="3175000" y="0"/>
                  </a:lnTo>
                  <a:lnTo>
                    <a:pt x="6350000" y="2306320"/>
                  </a:lnTo>
                  <a:lnTo>
                    <a:pt x="5137150" y="6038850"/>
                  </a:lnTo>
                  <a:lnTo>
                    <a:pt x="1212850" y="6038850"/>
                  </a:lnTo>
                  <a:close/>
                </a:path>
              </a:pathLst>
            </a:custGeom>
            <a:solidFill>
              <a:srgbClr val="0086D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408517" y="2181225"/>
            <a:ext cx="7486836" cy="101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24"/>
              </a:lnSpc>
              <a:spcBef>
                <a:spcPct val="0"/>
              </a:spcBef>
            </a:pPr>
            <a:r>
              <a:rPr lang="en-US" b="true" sz="6600" strike="noStrike" u="none">
                <a:solidFill>
                  <a:srgbClr val="0086D4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 marL="0" indent="0" lvl="1">
              <a:lnSpc>
                <a:spcPts val="1960"/>
              </a:lnSpc>
              <a:spcBef>
                <a:spcPct val="0"/>
              </a:spcBef>
            </a:pPr>
            <a:r>
              <a:rPr lang="en-US" b="true" sz="1400" spc="210" strike="noStrike" u="none">
                <a:solidFill>
                  <a:srgbClr val="0086D4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90459" y="4436897"/>
            <a:ext cx="16049791" cy="235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6" indent="-23748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99" spc="329" strike="noStrike" u="none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LE PROJET PMHUB EST ACTUELLEMENT EN DÉVELOPPEMENT (FRONTEND ET BACKEND)</a:t>
            </a:r>
          </a:p>
          <a:p>
            <a:pPr algn="l" marL="474976" indent="-23748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99" spc="329" strike="noStrike" u="none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L’ARCHITECTURE EST CONÇUE POUR ÊTRE ROBUSTE, MODULABLE ET EXTENSIBLE</a:t>
            </a:r>
          </a:p>
          <a:p>
            <a:pPr algn="l" marL="474976" indent="-23748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99" spc="329" strike="noStrike" u="none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L’ACCENT EST MIS SUR LES BESOINS DES UTILISATEURS POUR GUIDER LES FUTURES FONCTIONNALITÉS</a:t>
            </a:r>
          </a:p>
          <a:p>
            <a:pPr algn="l" marL="474976" indent="-23748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99" spc="329" strike="noStrike" u="none">
                <a:solidFill>
                  <a:srgbClr val="000000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PROCHAINES ÉTAPES : POURSUIVRE LE DÉVELOPPEMENT, INTÉGRER LES FONCTIONNALITÉS CLÉS ET PRÉPARER LE DÉPLOIEMENT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87186" y="9275586"/>
            <a:ext cx="14913628" cy="177502"/>
            <a:chOff x="0" y="0"/>
            <a:chExt cx="48017069" cy="57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255270"/>
              <a:ext cx="48017069" cy="69850"/>
            </a:xfrm>
            <a:custGeom>
              <a:avLst/>
              <a:gdLst/>
              <a:ahLst/>
              <a:cxnLst/>
              <a:rect r="r" b="b" t="t" l="l"/>
              <a:pathLst>
                <a:path h="69850" w="48017069">
                  <a:moveTo>
                    <a:pt x="47726240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48017069" y="69850"/>
                  </a:lnTo>
                  <a:lnTo>
                    <a:pt x="48017069" y="0"/>
                  </a:lnTo>
                  <a:close/>
                </a:path>
              </a:pathLst>
            </a:custGeom>
            <a:solidFill>
              <a:srgbClr val="0086D4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028700" y="9131708"/>
            <a:ext cx="465258" cy="465258"/>
          </a:xfrm>
          <a:custGeom>
            <a:avLst/>
            <a:gdLst/>
            <a:ahLst/>
            <a:cxnLst/>
            <a:rect r="r" b="b" t="t" l="l"/>
            <a:pathLst>
              <a:path h="465258" w="465258">
                <a:moveTo>
                  <a:pt x="0" y="0"/>
                </a:moveTo>
                <a:lnTo>
                  <a:pt x="465258" y="0"/>
                </a:lnTo>
                <a:lnTo>
                  <a:pt x="465258" y="465258"/>
                </a:lnTo>
                <a:lnTo>
                  <a:pt x="0" y="465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547575" y="0"/>
            <a:ext cx="2502321" cy="2502321"/>
          </a:xfrm>
          <a:custGeom>
            <a:avLst/>
            <a:gdLst/>
            <a:ahLst/>
            <a:cxnLst/>
            <a:rect r="r" b="b" t="t" l="l"/>
            <a:pathLst>
              <a:path h="2502321" w="2502321">
                <a:moveTo>
                  <a:pt x="0" y="0"/>
                </a:moveTo>
                <a:lnTo>
                  <a:pt x="2502321" y="0"/>
                </a:lnTo>
                <a:lnTo>
                  <a:pt x="2502321" y="2502321"/>
                </a:lnTo>
                <a:lnTo>
                  <a:pt x="0" y="25023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B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41850" y="-858650"/>
            <a:ext cx="12004301" cy="12004301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4397271" y="4327563"/>
            <a:ext cx="9493459" cy="1727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000"/>
              </a:lnSpc>
            </a:pPr>
            <a:r>
              <a:rPr lang="en-US" b="true" sz="120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MERCI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547575" y="0"/>
            <a:ext cx="2502321" cy="2502321"/>
          </a:xfrm>
          <a:custGeom>
            <a:avLst/>
            <a:gdLst/>
            <a:ahLst/>
            <a:cxnLst/>
            <a:rect r="r" b="b" t="t" l="l"/>
            <a:pathLst>
              <a:path h="2502321" w="2502321">
                <a:moveTo>
                  <a:pt x="0" y="0"/>
                </a:moveTo>
                <a:lnTo>
                  <a:pt x="2502321" y="0"/>
                </a:lnTo>
                <a:lnTo>
                  <a:pt x="2502321" y="2502321"/>
                </a:lnTo>
                <a:lnTo>
                  <a:pt x="0" y="25023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DAHE12Z39cE</dc:identifier>
  <dcterms:modified xsi:type="dcterms:W3CDTF">2011-08-01T06:04:30Z</dcterms:modified>
  <cp:revision>1</cp:revision>
  <dc:title>PMHUB_Presentation</dc:title>
</cp:coreProperties>
</file>